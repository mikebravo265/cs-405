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4" r:id="rId12"/>
    <p:sldId id="265" r:id="rId13"/>
    <p:sldId id="266" r:id="rId14"/>
    <p:sldId id="267" r:id="rId15"/>
    <p:sldId id="268" r:id="rId16"/>
    <p:sldId id="269" r:id="rId17"/>
  </p:sldIdLst>
  <p:sldSz cx="12192000" cy="6858000"/>
  <p:notesSz cx="6858000" cy="9144000"/>
  <p:embeddedFontLst>
    <p:embeddedFont>
      <p:font typeface="Century Gothic" panose="020B0502020202020204" pitchFamily="34" charset="0"/>
      <p:regular r:id="rId19"/>
      <p:italic r:id="rId20"/>
    </p:embeddedFont>
  </p:embeddedFontLst>
  <p:custDataLst>
    <p:tags r:id="rId2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3" autoAdjust="0"/>
    <p:restoredTop sz="94660"/>
  </p:normalViewPr>
  <p:slideViewPr>
    <p:cSldViewPr snapToGrid="0">
      <p:cViewPr varScale="1">
        <p:scale>
          <a:sx n="60" d="100"/>
          <a:sy n="60" d="100"/>
        </p:scale>
        <p:origin x="96" y="1056"/>
      </p:cViewPr>
      <p:guideLst>
        <p:guide orient="horz" pos="2160"/>
        <p:guide pos="3840"/>
      </p:guideLst>
    </p:cSldViewPr>
  </p:slideViewPr>
  <p:notesTextViewPr>
    <p:cViewPr>
      <p:scale>
        <a:sx n="1" d="1"/>
        <a:sy n="1" d="1"/>
      </p:scale>
      <p:origin x="0" y="-7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Hello, my name is Michael Bradley and I’m going to be giving a security policy presentation for Green Pace.</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 company-wide security policy is needed to ensure that security best practices are remembered and followed throughout the development lifecycle. This policy reinforces defense in depth by applying secure coding concepts at multiple points within the Software development lifecycle.</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Here we have an example of a threats matrix. Under priority I’ve placed input validation. This covers any input into the system whether it’s from users or other functions. This will help to prevent things like SQL injections. Likely to happen, misconfigurations. It could be server misconfigurations or authentications misconfigurations. We need to ensure that we’re configuring our systems properly. Low priority doesn’t mean no priority. We need to keep an eye on any dependencies we use and make sure that they’re valid and uncompromised. Unlikely is code tampering. Based on how the company operates and the employees here, I find code tampering to be an unlikely event.</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There are 10 core principles that we will be following. Listed on the slide are each of the 10 core principles as well as a coding standard that they align with. These principles are at the heart of our security policy and drive everything within the document.</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These are the 10 coding standards that we will be focusing on. Implementation of these standards will ensure that the code we produce meets security requirements. We have Assertions, Handle All Exceptions, Data Type, Memory Protection, Object Management, Input Output, Data Value, SQL Injection, String Correctness, and Integer Operations.</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Encryption is very important when it comes to handling data. In order to best serve our customers and protect their data, information classified as sensitive will be encrypted both at rest and in transit. Some example of this information are personal email addresses, addresses, and credit card numbers. Information classified as secure will be encrypted at rest, in transit, and in use. This includes passwords, tokens, keys, and the like.</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Triple-A stands for Authentication, Authorization, and Accounting. When it comes to authentication, employees will be authenticated through multiple means. 2 primary means are physical location, which can be supplemented by a VPN, and username/password authentication.</a:t>
            </a:r>
          </a:p>
          <a:p>
            <a:r>
              <a:rPr lang="en-US" sz="1100" b="0" i="0" u="none" strike="noStrike" cap="none" dirty="0">
                <a:solidFill>
                  <a:srgbClr val="000000"/>
                </a:solidFill>
                <a:effectLst/>
                <a:latin typeface="Arial"/>
                <a:ea typeface="Arial"/>
                <a:cs typeface="Arial"/>
                <a:sym typeface="Arial"/>
              </a:rPr>
              <a:t>When it comes to authorization, employees will be given the lowest level access required to perform their jobs. This ensures that individuals don’t have access to systems where they don’t belong and prevents malicious or unintentional systems leaks or breaks.</a:t>
            </a:r>
          </a:p>
          <a:p>
            <a:r>
              <a:rPr lang="en-US" sz="1100" b="0" i="0" u="none" strike="noStrike" cap="none" dirty="0">
                <a:solidFill>
                  <a:srgbClr val="000000"/>
                </a:solidFill>
                <a:effectLst/>
                <a:latin typeface="Arial"/>
                <a:ea typeface="Arial"/>
                <a:cs typeface="Arial"/>
                <a:sym typeface="Arial"/>
              </a:rPr>
              <a:t>Accounting covers all actions within the system. It doesn’t matter if you are authenticated and authorized. Any action take within the system will be logged.</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Pipeline starts with Assess and Plan. This is where you perform your threat analysis and prioritize your backlog. Once know the basic application you’re developing and the threats you’re likely to face, You can move onto Design. In this stage you’re designing what the application will actually look like and what functions will be performed, Paying special attention to the security vulnerabilities that you need to prevent. Once it’s designed, it’s time to build. Your application should use secure libraries and functions. After it’s built comes the testing, the static code analysis, and the peer review. After you’ve made any necessary changes you can move from pre-production to production. The first step of production is to transition the program and do a health check. Does everything run as it should? Check security settings and perform a penetration test. Monitor your program and log everything. Now that you have lots of new data flowing in, you need to respond to any new issues or attacks that arise. The final step is to maintain and stabilize. Once the program is stable you can start the cycle again in order to fix any bugs.</a:t>
            </a: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There are many tools that can be used when developing code. Listed here are just a few of the options available. When it comes to developing secure code, we need to make sure that we’re taking advantage of the modern tools available that will alert us to any potential issues.</a:t>
            </a: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As with any new product there are certain risks and benefits to implementing this new policy now. We risk slower code development, some tools may cost money, and new processes take time to learn. But some of the benefits include that our code will be more secure from the start. This means less bugs in production code and an improved reputation for security and privacy. There are also a lot of free tools out there to help us accomplish our goals.</a:t>
            </a: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 have 3 recommendations based off of the information presented. Knowing that no policy is foolproof, and I’ve personally built this one. I recommend that you review the security policy, build a team to refine the security policy, and Implement the new policy as soon as possible.</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In conclusion, we have reviewed an example of a threats matrix, 10 core principles, coding standards, encryption policies, triple-A policies, automation and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tools, and finally, risks and benefits. I hope that you take my recommendation to heart. Thank you for your time.</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Michael Preston Bradley</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110836" y="1856510"/>
            <a:ext cx="11395364" cy="4362176"/>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dirty="0"/>
              <a:t>A company-wide security policy is needed to ensure that security best practices are remembered and followed throughout the development lifecycle. This policy reinforces defense in depth by applying secure coding 								 concepts at multiple points within 							 the SDLC.</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110836" y="2922538"/>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lvl="0" indent="0" algn="l" rtl="0">
              <a:lnSpc>
                <a:spcPct val="107916"/>
              </a:lnSpc>
              <a:spcBef>
                <a:spcPts val="0"/>
              </a:spcBef>
              <a:spcAft>
                <a:spcPts val="0"/>
              </a:spcAft>
              <a:buSzPts val="18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2789611548"/>
              </p:ext>
            </p:extLst>
          </p:nvPr>
        </p:nvGraphicFramePr>
        <p:xfrm>
          <a:off x="3171900" y="2452256"/>
          <a:ext cx="7912174" cy="3712836"/>
        </p:xfrm>
        <a:graphic>
          <a:graphicData uri="http://schemas.openxmlformats.org/drawingml/2006/table">
            <a:tbl>
              <a:tblPr firstRow="1" firstCol="1">
                <a:noFill/>
                <a:tableStyleId>{802198C4-3087-4945-87E3-76CBB3509B7E}</a:tableStyleId>
              </a:tblPr>
              <a:tblGrid>
                <a:gridCol w="4070007">
                  <a:extLst>
                    <a:ext uri="{9D8B030D-6E8A-4147-A177-3AD203B41FA5}">
                      <a16:colId xmlns:a16="http://schemas.microsoft.com/office/drawing/2014/main" val="20000"/>
                    </a:ext>
                  </a:extLst>
                </a:gridCol>
                <a:gridCol w="3842167">
                  <a:extLst>
                    <a:ext uri="{9D8B030D-6E8A-4147-A177-3AD203B41FA5}">
                      <a16:colId xmlns:a16="http://schemas.microsoft.com/office/drawing/2014/main" val="20001"/>
                    </a:ext>
                  </a:extLst>
                </a:gridCol>
              </a:tblGrid>
              <a:tr h="1884066">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Likely:</a:t>
                      </a:r>
                      <a:endParaRPr sz="1400" u="none" strike="noStrike" cap="none" dirty="0">
                        <a:solidFill>
                          <a:schemeClr val="accent3">
                            <a:lumMod val="50000"/>
                          </a:schemeClr>
                        </a:solidFill>
                      </a:endParaRP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Misconfigurations</a:t>
                      </a:r>
                      <a:endParaRPr sz="3600" u="none" strike="noStrike" cap="none" dirty="0">
                        <a:solidFill>
                          <a:schemeClr val="accent3">
                            <a:lumMod val="50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Priority:</a:t>
                      </a:r>
                      <a:endParaRPr lang="en-US" sz="1400" u="none" strike="noStrike" cap="none" dirty="0">
                        <a:solidFill>
                          <a:schemeClr val="accent3">
                            <a:lumMod val="50000"/>
                          </a:schemeClr>
                        </a:solidFill>
                      </a:endParaRP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Input Validation</a:t>
                      </a:r>
                      <a:endParaRPr lang="en-US" sz="1400" u="none" strike="noStrike" cap="none" dirty="0">
                        <a:solidFill>
                          <a:schemeClr val="accent3">
                            <a:lumMod val="50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822824">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Low priority:</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Compromised Dependencies</a:t>
                      </a:r>
                      <a:endParaRPr sz="1400" u="none" strike="noStrike" cap="none" dirty="0">
                        <a:solidFill>
                          <a:schemeClr val="accent3">
                            <a:lumMod val="50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Unlikely:</a:t>
                      </a:r>
                      <a:endParaRPr sz="1400" u="none" strike="noStrike" cap="none" dirty="0">
                        <a:solidFill>
                          <a:schemeClr val="accent3">
                            <a:lumMod val="50000"/>
                          </a:schemeClr>
                        </a:solidFill>
                      </a:endParaRP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accent3">
                              <a:lumMod val="50000"/>
                            </a:schemeClr>
                          </a:solidFill>
                        </a:rPr>
                        <a:t>Code Tampering</a:t>
                      </a:r>
                      <a:endParaRPr sz="1400" u="none" strike="noStrike" cap="none" dirty="0">
                        <a:solidFill>
                          <a:schemeClr val="accent3">
                            <a:lumMod val="50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lt1"/>
              </a:buClr>
              <a:buSzPts val="2200"/>
              <a:buChar char="•"/>
            </a:pPr>
            <a:r>
              <a:rPr lang="en-US" sz="2800" dirty="0"/>
              <a:t>Validate Input Data: Data Type</a:t>
            </a:r>
          </a:p>
          <a:p>
            <a:pPr marL="228600" lvl="0" indent="-228600" algn="l" rtl="0">
              <a:lnSpc>
                <a:spcPct val="90000"/>
              </a:lnSpc>
              <a:spcBef>
                <a:spcPts val="0"/>
              </a:spcBef>
              <a:spcAft>
                <a:spcPts val="0"/>
              </a:spcAft>
              <a:buClr>
                <a:schemeClr val="lt1"/>
              </a:buClr>
              <a:buSzPts val="2200"/>
              <a:buChar char="•"/>
            </a:pPr>
            <a:r>
              <a:rPr lang="en-US" sz="2800" dirty="0"/>
              <a:t>Heed Compiler Warnings: Assertions</a:t>
            </a:r>
          </a:p>
          <a:p>
            <a:pPr marL="228600" lvl="0" indent="-228600" algn="l" rtl="0">
              <a:lnSpc>
                <a:spcPct val="90000"/>
              </a:lnSpc>
              <a:spcBef>
                <a:spcPts val="0"/>
              </a:spcBef>
              <a:spcAft>
                <a:spcPts val="0"/>
              </a:spcAft>
              <a:buClr>
                <a:schemeClr val="lt1"/>
              </a:buClr>
              <a:buSzPts val="2200"/>
              <a:buChar char="•"/>
            </a:pPr>
            <a:r>
              <a:rPr lang="en-US" sz="2800" dirty="0"/>
              <a:t>Architect and Design for Security Policies: Memory Protection</a:t>
            </a:r>
          </a:p>
          <a:p>
            <a:pPr marL="228600" lvl="0" indent="-228600" algn="l" rtl="0">
              <a:lnSpc>
                <a:spcPct val="90000"/>
              </a:lnSpc>
              <a:spcBef>
                <a:spcPts val="0"/>
              </a:spcBef>
              <a:spcAft>
                <a:spcPts val="0"/>
              </a:spcAft>
              <a:buClr>
                <a:schemeClr val="lt1"/>
              </a:buClr>
              <a:buSzPts val="2200"/>
              <a:buChar char="•"/>
            </a:pPr>
            <a:r>
              <a:rPr lang="en-US" sz="2800" dirty="0"/>
              <a:t>Keep it Simple: Handle All Exceptions</a:t>
            </a:r>
          </a:p>
          <a:p>
            <a:pPr marL="228600" lvl="0" indent="-228600" algn="l" rtl="0">
              <a:lnSpc>
                <a:spcPct val="90000"/>
              </a:lnSpc>
              <a:spcBef>
                <a:spcPts val="0"/>
              </a:spcBef>
              <a:spcAft>
                <a:spcPts val="0"/>
              </a:spcAft>
              <a:buClr>
                <a:schemeClr val="lt1"/>
              </a:buClr>
              <a:buSzPts val="2200"/>
              <a:buChar char="•"/>
            </a:pPr>
            <a:r>
              <a:rPr lang="en-US" sz="2800" dirty="0"/>
              <a:t>Default Deny: Object Management</a:t>
            </a:r>
          </a:p>
          <a:p>
            <a:pPr marL="228600" lvl="0" indent="-228600" algn="l" rtl="0">
              <a:lnSpc>
                <a:spcPct val="90000"/>
              </a:lnSpc>
              <a:spcBef>
                <a:spcPts val="0"/>
              </a:spcBef>
              <a:spcAft>
                <a:spcPts val="0"/>
              </a:spcAft>
              <a:buClr>
                <a:schemeClr val="lt1"/>
              </a:buClr>
              <a:buSzPts val="2200"/>
              <a:buChar char="•"/>
            </a:pPr>
            <a:r>
              <a:rPr lang="en-US" sz="2800" dirty="0"/>
              <a:t>Adhere to the Principle of Least Privilege: Input Output</a:t>
            </a:r>
          </a:p>
          <a:p>
            <a:pPr marL="228600" lvl="0" indent="-228600" algn="l" rtl="0">
              <a:lnSpc>
                <a:spcPct val="90000"/>
              </a:lnSpc>
              <a:spcBef>
                <a:spcPts val="0"/>
              </a:spcBef>
              <a:spcAft>
                <a:spcPts val="0"/>
              </a:spcAft>
              <a:buClr>
                <a:schemeClr val="lt1"/>
              </a:buClr>
              <a:buSzPts val="2200"/>
              <a:buChar char="•"/>
            </a:pPr>
            <a:r>
              <a:rPr lang="en-US" sz="2800" dirty="0"/>
              <a:t>Sanitize Data Sent to Other Systems: Data Value</a:t>
            </a:r>
          </a:p>
          <a:p>
            <a:pPr marL="228600" lvl="0" indent="-228600" algn="l" rtl="0">
              <a:lnSpc>
                <a:spcPct val="90000"/>
              </a:lnSpc>
              <a:spcBef>
                <a:spcPts val="0"/>
              </a:spcBef>
              <a:spcAft>
                <a:spcPts val="0"/>
              </a:spcAft>
              <a:buClr>
                <a:schemeClr val="lt1"/>
              </a:buClr>
              <a:buSzPts val="2200"/>
              <a:buChar char="•"/>
            </a:pPr>
            <a:r>
              <a:rPr lang="en-US" sz="2800" dirty="0"/>
              <a:t>Practice Defense in Depth: SQL Injection</a:t>
            </a:r>
          </a:p>
          <a:p>
            <a:pPr marL="228600" lvl="0" indent="-228600" algn="l" rtl="0">
              <a:lnSpc>
                <a:spcPct val="90000"/>
              </a:lnSpc>
              <a:spcBef>
                <a:spcPts val="0"/>
              </a:spcBef>
              <a:spcAft>
                <a:spcPts val="0"/>
              </a:spcAft>
              <a:buClr>
                <a:schemeClr val="lt1"/>
              </a:buClr>
              <a:buSzPts val="2200"/>
              <a:buChar char="•"/>
            </a:pPr>
            <a:r>
              <a:rPr lang="en-US" sz="2800" dirty="0"/>
              <a:t>Use Effective Quality Assurance Techniques: String Correctness</a:t>
            </a:r>
          </a:p>
          <a:p>
            <a:pPr marL="228600" lvl="0" indent="-228600" algn="l" rtl="0">
              <a:lnSpc>
                <a:spcPct val="90000"/>
              </a:lnSpc>
              <a:spcBef>
                <a:spcPts val="0"/>
              </a:spcBef>
              <a:spcAft>
                <a:spcPts val="0"/>
              </a:spcAft>
              <a:buClr>
                <a:schemeClr val="lt1"/>
              </a:buClr>
              <a:buSzPts val="2200"/>
              <a:buChar char="•"/>
            </a:pPr>
            <a:r>
              <a:rPr lang="en-US" sz="2800" dirty="0"/>
              <a:t>Adopt a Secure Coding Standard: Integer Operations</a:t>
            </a:r>
            <a:endParaRPr sz="2800"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4384964"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000"/>
            </a:pPr>
            <a:r>
              <a:rPr lang="en-US" sz="2800" dirty="0"/>
              <a:t>Assertions</a:t>
            </a:r>
          </a:p>
          <a:p>
            <a:pPr marL="228600" indent="-228600">
              <a:spcBef>
                <a:spcPts val="0"/>
              </a:spcBef>
              <a:buSzPts val="2000"/>
            </a:pPr>
            <a:r>
              <a:rPr lang="en-US" sz="2800" dirty="0"/>
              <a:t>Handle All Exceptions</a:t>
            </a:r>
          </a:p>
          <a:p>
            <a:pPr marL="228600" indent="-228600">
              <a:spcBef>
                <a:spcPts val="0"/>
              </a:spcBef>
              <a:buSzPts val="2000"/>
            </a:pPr>
            <a:r>
              <a:rPr lang="en-US" sz="2800" dirty="0"/>
              <a:t>Data Type</a:t>
            </a:r>
          </a:p>
          <a:p>
            <a:pPr marL="228600" indent="-228600">
              <a:spcBef>
                <a:spcPts val="0"/>
              </a:spcBef>
              <a:buSzPts val="2000"/>
            </a:pPr>
            <a:r>
              <a:rPr lang="en-US" sz="2800" dirty="0"/>
              <a:t>Memory Protection</a:t>
            </a:r>
          </a:p>
          <a:p>
            <a:pPr marL="228600" indent="-228600">
              <a:spcBef>
                <a:spcPts val="0"/>
              </a:spcBef>
              <a:buSzPts val="2000"/>
            </a:pPr>
            <a:r>
              <a:rPr lang="en-US" sz="2800" dirty="0"/>
              <a:t>Object Management</a:t>
            </a:r>
          </a:p>
          <a:p>
            <a:pPr marL="228600" indent="-228600">
              <a:spcBef>
                <a:spcPts val="0"/>
              </a:spcBef>
              <a:buSzPts val="2000"/>
            </a:pPr>
            <a:r>
              <a:rPr lang="en-US" sz="2800" dirty="0"/>
              <a:t>Input Output</a:t>
            </a:r>
          </a:p>
          <a:p>
            <a:pPr marL="228600" indent="-228600">
              <a:spcBef>
                <a:spcPts val="0"/>
              </a:spcBef>
              <a:buSzPts val="2000"/>
            </a:pPr>
            <a:r>
              <a:rPr lang="en-US" sz="2800" dirty="0"/>
              <a:t>Data Value</a:t>
            </a:r>
          </a:p>
          <a:p>
            <a:pPr marL="228600" indent="-228600">
              <a:spcBef>
                <a:spcPts val="0"/>
              </a:spcBef>
              <a:buSzPts val="2000"/>
            </a:pPr>
            <a:r>
              <a:rPr lang="en-US" sz="2800" dirty="0"/>
              <a:t>SQL Injection</a:t>
            </a:r>
          </a:p>
          <a:p>
            <a:pPr marL="228600" indent="-228600">
              <a:spcBef>
                <a:spcPts val="0"/>
              </a:spcBef>
              <a:buSzPts val="2000"/>
            </a:pPr>
            <a:r>
              <a:rPr lang="en-US" sz="2800" dirty="0"/>
              <a:t>String Correctness</a:t>
            </a:r>
          </a:p>
          <a:p>
            <a:pPr marL="228600" indent="-228600">
              <a:spcBef>
                <a:spcPts val="0"/>
              </a:spcBef>
              <a:buSzPts val="2000"/>
            </a:pPr>
            <a:r>
              <a:rPr lang="en-US" sz="2800" dirty="0"/>
              <a:t>Integer Operations</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Google Shape;175;p6">
            <a:extLst>
              <a:ext uri="{FF2B5EF4-FFF2-40B4-BE49-F238E27FC236}">
                <a16:creationId xmlns:a16="http://schemas.microsoft.com/office/drawing/2014/main" id="{494F17E4-67F2-BF58-848A-A45001644BD3}"/>
              </a:ext>
            </a:extLst>
          </p:cNvPr>
          <p:cNvSpPr txBox="1">
            <a:spLocks/>
          </p:cNvSpPr>
          <p:nvPr/>
        </p:nvSpPr>
        <p:spPr>
          <a:xfrm>
            <a:off x="6255327" y="2194560"/>
            <a:ext cx="5091546"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228600" indent="-228600">
              <a:spcBef>
                <a:spcPts val="0"/>
              </a:spcBef>
              <a:buSzPts val="2000"/>
            </a:pPr>
            <a:endParaRPr lang="en-US" sz="2800"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3200" dirty="0"/>
              <a:t>Information classified as sensitive will be encrypted both at rest and in transit.</a:t>
            </a:r>
          </a:p>
          <a:p>
            <a:pPr marL="228600" lvl="0" indent="-228600" algn="l" rtl="0">
              <a:lnSpc>
                <a:spcPct val="90000"/>
              </a:lnSpc>
              <a:spcBef>
                <a:spcPts val="0"/>
              </a:spcBef>
              <a:spcAft>
                <a:spcPts val="0"/>
              </a:spcAft>
              <a:buClr>
                <a:schemeClr val="lt1"/>
              </a:buClr>
              <a:buSzPts val="2000"/>
              <a:buChar char="•"/>
            </a:pPr>
            <a:endParaRPr lang="en-US" sz="3200" dirty="0"/>
          </a:p>
          <a:p>
            <a:pPr marL="228600" lvl="0" indent="-228600" algn="l" rtl="0">
              <a:lnSpc>
                <a:spcPct val="90000"/>
              </a:lnSpc>
              <a:spcBef>
                <a:spcPts val="0"/>
              </a:spcBef>
              <a:spcAft>
                <a:spcPts val="0"/>
              </a:spcAft>
              <a:buClr>
                <a:schemeClr val="lt1"/>
              </a:buClr>
              <a:buSzPts val="2000"/>
              <a:buChar char="•"/>
            </a:pPr>
            <a:r>
              <a:rPr lang="en-US" sz="3200" dirty="0"/>
              <a:t>Information classified as secure will be encrypted at rest, in transit, and in use.</a:t>
            </a:r>
            <a:endParaRPr sz="2800"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400"/>
              <a:buChar char="•"/>
            </a:pPr>
            <a:r>
              <a:rPr lang="en-US" sz="2400" dirty="0"/>
              <a:t>Authentication: </a:t>
            </a:r>
          </a:p>
          <a:p>
            <a:pPr marL="685800" lvl="1" indent="-228600">
              <a:spcBef>
                <a:spcPts val="0"/>
              </a:spcBef>
              <a:buSzPts val="2400"/>
            </a:pPr>
            <a:r>
              <a:rPr lang="en-US" sz="2200" dirty="0"/>
              <a:t>Location: if the physical location is not within the company building, a VPN may be used.</a:t>
            </a:r>
          </a:p>
          <a:p>
            <a:pPr marL="685800" lvl="1" indent="-228600">
              <a:spcBef>
                <a:spcPts val="0"/>
              </a:spcBef>
              <a:buSzPts val="2400"/>
            </a:pPr>
            <a:r>
              <a:rPr lang="en-US" sz="2400" dirty="0"/>
              <a:t>Username/Password: Login must be successful with 2-factor authentication.</a:t>
            </a:r>
          </a:p>
          <a:p>
            <a:pPr marL="685800" lvl="1" indent="-228600">
              <a:spcBef>
                <a:spcPts val="0"/>
              </a:spcBef>
              <a:buSzPts val="2400"/>
            </a:pPr>
            <a:endParaRPr lang="en-US" sz="2400" dirty="0"/>
          </a:p>
          <a:p>
            <a:pPr marL="228600" indent="-228600">
              <a:spcBef>
                <a:spcPts val="0"/>
              </a:spcBef>
              <a:buSzPts val="2400"/>
            </a:pPr>
            <a:r>
              <a:rPr lang="en-US" sz="2400" dirty="0"/>
              <a:t>Authorization: Employees will be given the lowest level access required to perform their jobs. If additional access is required, a request must be submitted.</a:t>
            </a:r>
          </a:p>
          <a:p>
            <a:pPr marL="228600" indent="-228600">
              <a:spcBef>
                <a:spcPts val="0"/>
              </a:spcBef>
              <a:buSzPts val="2400"/>
            </a:pPr>
            <a:endParaRPr lang="en-US" sz="2400" dirty="0"/>
          </a:p>
          <a:p>
            <a:pPr marL="228600" indent="-228600">
              <a:spcBef>
                <a:spcPts val="0"/>
              </a:spcBef>
              <a:buSzPts val="2400"/>
            </a:pPr>
            <a:r>
              <a:rPr lang="en-US" sz="2400" dirty="0"/>
              <a:t>Accounting: Any and all actions that take place within the system will be logged, even viewing files. Logs will include user, time, date, and action taken. </a:t>
            </a:r>
          </a:p>
          <a:p>
            <a:pPr marL="228600" indent="-228600">
              <a:spcBef>
                <a:spcPts val="0"/>
              </a:spcBef>
              <a:buSzPts val="2400"/>
            </a:pPr>
            <a:endParaRPr lang="en-US"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sz="2800" dirty="0" err="1"/>
              <a:t>CPPCheck</a:t>
            </a:r>
            <a:r>
              <a:rPr lang="en-US" sz="2800" dirty="0"/>
              <a:t> -&gt; Static Code Analysis for C and C++</a:t>
            </a:r>
          </a:p>
          <a:p>
            <a:pPr marL="685800" lvl="1" indent="-228600" algn="l" rtl="0">
              <a:lnSpc>
                <a:spcPct val="90000"/>
              </a:lnSpc>
              <a:spcBef>
                <a:spcPts val="0"/>
              </a:spcBef>
              <a:spcAft>
                <a:spcPts val="0"/>
              </a:spcAft>
              <a:buClr>
                <a:schemeClr val="lt1"/>
              </a:buClr>
              <a:buSzPts val="2000"/>
              <a:buChar char="•"/>
            </a:pPr>
            <a:r>
              <a:rPr lang="en-US" sz="2800" dirty="0"/>
              <a:t>Postman -&gt; API testing</a:t>
            </a:r>
          </a:p>
          <a:p>
            <a:pPr marL="685800" lvl="1" indent="-228600" algn="l" rtl="0">
              <a:lnSpc>
                <a:spcPct val="90000"/>
              </a:lnSpc>
              <a:spcBef>
                <a:spcPts val="0"/>
              </a:spcBef>
              <a:spcAft>
                <a:spcPts val="0"/>
              </a:spcAft>
              <a:buClr>
                <a:schemeClr val="lt1"/>
              </a:buClr>
              <a:buSzPts val="2000"/>
              <a:buChar char="•"/>
            </a:pPr>
            <a:r>
              <a:rPr lang="en-US" sz="2800" dirty="0"/>
              <a:t>Selenium -&gt; Web Application testing</a:t>
            </a:r>
          </a:p>
          <a:p>
            <a:pPr marL="685800" lvl="1" indent="-228600" algn="l" rtl="0">
              <a:lnSpc>
                <a:spcPct val="90000"/>
              </a:lnSpc>
              <a:spcBef>
                <a:spcPts val="0"/>
              </a:spcBef>
              <a:spcAft>
                <a:spcPts val="0"/>
              </a:spcAft>
              <a:buClr>
                <a:schemeClr val="lt1"/>
              </a:buClr>
              <a:buSzPts val="2000"/>
              <a:buChar char="•"/>
            </a:pPr>
            <a:r>
              <a:rPr lang="en-US" sz="2800" dirty="0"/>
              <a:t>Cypress -&gt; Front-end testing</a:t>
            </a:r>
          </a:p>
          <a:p>
            <a:pPr marL="685800" lvl="1" indent="-228600" algn="l" rtl="0">
              <a:lnSpc>
                <a:spcPct val="90000"/>
              </a:lnSpc>
              <a:spcBef>
                <a:spcPts val="0"/>
              </a:spcBef>
              <a:spcAft>
                <a:spcPts val="0"/>
              </a:spcAft>
              <a:buClr>
                <a:schemeClr val="lt1"/>
              </a:buClr>
              <a:buSzPts val="2000"/>
              <a:buChar char="•"/>
            </a:pPr>
            <a:r>
              <a:rPr lang="en-US" sz="2800" dirty="0"/>
              <a:t>Junit -&gt; Java Code testing</a:t>
            </a:r>
          </a:p>
          <a:p>
            <a:pPr marL="685800" lvl="1" indent="-228600" algn="l" rtl="0">
              <a:lnSpc>
                <a:spcPct val="90000"/>
              </a:lnSpc>
              <a:spcBef>
                <a:spcPts val="0"/>
              </a:spcBef>
              <a:spcAft>
                <a:spcPts val="0"/>
              </a:spcAft>
              <a:buClr>
                <a:schemeClr val="lt1"/>
              </a:buClr>
              <a:buSzPts val="2000"/>
              <a:buChar char="•"/>
            </a:pPr>
            <a:r>
              <a:rPr lang="en-US" sz="2800" dirty="0"/>
              <a:t>SonarQube -&gt; Software code testing and quality analysis</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[Describe the problems, the solutions, and the risks or benefits involved if you act now or wait. Where is the strategy lacking? What are the risks of using this strategy? Which steps should be taken?]</a:t>
            </a:r>
          </a:p>
          <a:p>
            <a:pPr marL="228600" lvl="0" indent="-228600" algn="l" rtl="0">
              <a:lnSpc>
                <a:spcPct val="90000"/>
              </a:lnSpc>
              <a:spcBef>
                <a:spcPts val="0"/>
              </a:spcBef>
              <a:spcAft>
                <a:spcPts val="0"/>
              </a:spcAft>
              <a:buClr>
                <a:schemeClr val="lt1"/>
              </a:buClr>
              <a:buSzPts val="2000"/>
              <a:buChar char="•"/>
            </a:pPr>
            <a:r>
              <a:rPr lang="en-US" sz="2000" dirty="0"/>
              <a:t>Risks:</a:t>
            </a:r>
          </a:p>
          <a:p>
            <a:pPr marL="685800" lvl="1" indent="-228600">
              <a:spcBef>
                <a:spcPts val="0"/>
              </a:spcBef>
              <a:buSzPts val="2000"/>
            </a:pPr>
            <a:r>
              <a:rPr lang="en-US" dirty="0"/>
              <a:t>Slower code development</a:t>
            </a:r>
          </a:p>
          <a:p>
            <a:pPr marL="685800" lvl="1" indent="-228600">
              <a:spcBef>
                <a:spcPts val="0"/>
              </a:spcBef>
              <a:buSzPts val="2000"/>
            </a:pPr>
            <a:r>
              <a:rPr lang="en-US" dirty="0"/>
              <a:t>Some tools may cost money</a:t>
            </a:r>
          </a:p>
          <a:p>
            <a:pPr marL="685800" lvl="1" indent="-228600">
              <a:spcBef>
                <a:spcPts val="0"/>
              </a:spcBef>
              <a:buSzPts val="2000"/>
            </a:pPr>
            <a:r>
              <a:rPr lang="en-US" dirty="0"/>
              <a:t>New processes take time to learn</a:t>
            </a:r>
          </a:p>
          <a:p>
            <a:pPr marL="685800" lvl="1" indent="-228600">
              <a:spcBef>
                <a:spcPts val="0"/>
              </a:spcBef>
              <a:buSzPts val="2000"/>
            </a:pPr>
            <a:endParaRPr lang="en-US" dirty="0"/>
          </a:p>
          <a:p>
            <a:pPr marL="228600" indent="-228600">
              <a:spcBef>
                <a:spcPts val="0"/>
              </a:spcBef>
              <a:buSzPts val="2000"/>
            </a:pPr>
            <a:r>
              <a:rPr lang="en-US" dirty="0"/>
              <a:t>Benefits:</a:t>
            </a:r>
          </a:p>
          <a:p>
            <a:pPr marL="685800" lvl="1" indent="-228600">
              <a:spcBef>
                <a:spcPts val="0"/>
              </a:spcBef>
              <a:buSzPts val="2000"/>
            </a:pPr>
            <a:r>
              <a:rPr lang="en-US" dirty="0"/>
              <a:t>Code is more secure from the start</a:t>
            </a:r>
          </a:p>
          <a:p>
            <a:pPr marL="685800" lvl="1" indent="-228600">
              <a:spcBef>
                <a:spcPts val="0"/>
              </a:spcBef>
              <a:buSzPts val="2000"/>
            </a:pPr>
            <a:r>
              <a:rPr lang="en-US" dirty="0"/>
              <a:t>Lots of free tool available</a:t>
            </a:r>
          </a:p>
          <a:p>
            <a:pPr marL="685800" lvl="1" indent="-228600">
              <a:spcBef>
                <a:spcPts val="0"/>
              </a:spcBef>
              <a:buSzPts val="2000"/>
            </a:pPr>
            <a:r>
              <a:rPr lang="en-US" dirty="0"/>
              <a:t>Less bugs in production</a:t>
            </a:r>
          </a:p>
          <a:p>
            <a:pPr marL="685800" lvl="1" indent="-228600">
              <a:spcBef>
                <a:spcPts val="0"/>
              </a:spcBef>
              <a:buSzPts val="2000"/>
            </a:pPr>
            <a:r>
              <a:rPr lang="en-US" dirty="0"/>
              <a:t>Improved reputation for security and privacy</a:t>
            </a:r>
          </a:p>
          <a:p>
            <a:pPr marL="685800" lvl="1" indent="-228600">
              <a:spcBef>
                <a:spcPts val="0"/>
              </a:spcBef>
              <a:buSzPts val="2000"/>
            </a:pP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pPr>
            <a:endParaRPr lang="en-US" sz="3600" dirty="0"/>
          </a:p>
          <a:p>
            <a:pPr marL="1143000" lvl="2" indent="-228600" algn="l" rtl="0">
              <a:lnSpc>
                <a:spcPct val="90000"/>
              </a:lnSpc>
              <a:spcBef>
                <a:spcPts val="0"/>
              </a:spcBef>
              <a:spcAft>
                <a:spcPts val="0"/>
              </a:spcAft>
              <a:buClr>
                <a:schemeClr val="lt1"/>
              </a:buClr>
              <a:buSzPts val="1800"/>
              <a:buChar char="•"/>
            </a:pPr>
            <a:endParaRPr lang="en-US" sz="3600" dirty="0"/>
          </a:p>
          <a:p>
            <a:pPr marL="1143000" lvl="2" indent="-228600" algn="l" rtl="0">
              <a:lnSpc>
                <a:spcPct val="90000"/>
              </a:lnSpc>
              <a:spcBef>
                <a:spcPts val="0"/>
              </a:spcBef>
              <a:spcAft>
                <a:spcPts val="0"/>
              </a:spcAft>
              <a:buClr>
                <a:schemeClr val="lt1"/>
              </a:buClr>
              <a:buSzPts val="1800"/>
              <a:buChar char="•"/>
            </a:pPr>
            <a:r>
              <a:rPr lang="en-US" sz="3600" dirty="0"/>
              <a:t>Review the security policy</a:t>
            </a:r>
          </a:p>
          <a:p>
            <a:pPr marL="1143000" lvl="2" indent="-228600" algn="l" rtl="0">
              <a:lnSpc>
                <a:spcPct val="90000"/>
              </a:lnSpc>
              <a:spcBef>
                <a:spcPts val="0"/>
              </a:spcBef>
              <a:spcAft>
                <a:spcPts val="0"/>
              </a:spcAft>
              <a:buClr>
                <a:schemeClr val="lt1"/>
              </a:buClr>
              <a:buSzPts val="1800"/>
              <a:buChar char="•"/>
            </a:pPr>
            <a:r>
              <a:rPr lang="en-US" sz="3600" dirty="0"/>
              <a:t>Build a team to refine the security policy</a:t>
            </a:r>
          </a:p>
          <a:p>
            <a:pPr marL="1143000" lvl="2" indent="-228600" algn="l" rtl="0">
              <a:lnSpc>
                <a:spcPct val="90000"/>
              </a:lnSpc>
              <a:spcBef>
                <a:spcPts val="0"/>
              </a:spcBef>
              <a:spcAft>
                <a:spcPts val="0"/>
              </a:spcAft>
              <a:buClr>
                <a:schemeClr val="lt1"/>
              </a:buClr>
              <a:buSzPts val="1800"/>
              <a:buChar char="•"/>
            </a:pPr>
            <a:r>
              <a:rPr lang="en-US" sz="3600" dirty="0"/>
              <a:t>Implement as soon as possible</a:t>
            </a:r>
            <a:endParaRPr sz="36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threats matrix</a:t>
            </a:r>
          </a:p>
          <a:p>
            <a:pPr marL="228600" lvl="0" indent="-228600">
              <a:spcBef>
                <a:spcPts val="0"/>
              </a:spcBef>
              <a:buSzPts val="2200"/>
            </a:pPr>
            <a:r>
              <a:rPr lang="en-US" dirty="0"/>
              <a:t>10 core principles</a:t>
            </a:r>
          </a:p>
          <a:p>
            <a:pPr marL="228600" lvl="0" indent="-228600">
              <a:spcBef>
                <a:spcPts val="0"/>
              </a:spcBef>
              <a:buSzPts val="2200"/>
            </a:pPr>
            <a:r>
              <a:rPr lang="en-US" dirty="0"/>
              <a:t>coding standards</a:t>
            </a:r>
          </a:p>
          <a:p>
            <a:pPr marL="228600" lvl="0" indent="-228600">
              <a:spcBef>
                <a:spcPts val="0"/>
              </a:spcBef>
              <a:buSzPts val="2200"/>
            </a:pPr>
            <a:r>
              <a:rPr lang="en-US" dirty="0"/>
              <a:t>encryption policies</a:t>
            </a:r>
          </a:p>
          <a:p>
            <a:pPr marL="228600" lvl="0" indent="-228600">
              <a:spcBef>
                <a:spcPts val="0"/>
              </a:spcBef>
              <a:buSzPts val="2200"/>
            </a:pPr>
            <a:r>
              <a:rPr lang="en-US" dirty="0"/>
              <a:t>triple-A policies</a:t>
            </a:r>
          </a:p>
          <a:p>
            <a:pPr marL="228600" lvl="0" indent="-228600">
              <a:spcBef>
                <a:spcPts val="0"/>
              </a:spcBef>
              <a:buSzPts val="2200"/>
            </a:pPr>
            <a:r>
              <a:rPr lang="en-US" dirty="0"/>
              <a:t>automation and </a:t>
            </a:r>
            <a:r>
              <a:rPr lang="en-US" dirty="0" err="1"/>
              <a:t>DevSecOps</a:t>
            </a:r>
            <a:endParaRPr lang="en-US" dirty="0"/>
          </a:p>
          <a:p>
            <a:pPr marL="228600" lvl="0" indent="-228600">
              <a:spcBef>
                <a:spcPts val="0"/>
              </a:spcBef>
              <a:buSzPts val="2200"/>
            </a:pPr>
            <a:r>
              <a:rPr lang="en-US" dirty="0"/>
              <a:t>Tools</a:t>
            </a:r>
          </a:p>
          <a:p>
            <a:pPr marL="228600" lvl="0" indent="-228600">
              <a:spcBef>
                <a:spcPts val="0"/>
              </a:spcBef>
              <a:buSzPts val="2200"/>
            </a:pPr>
            <a:r>
              <a:rPr lang="en-US" dirty="0"/>
              <a:t>Risks and Benefits</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endParaRPr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241</TotalTime>
  <Words>1435</Words>
  <Application>Microsoft Office PowerPoint</Application>
  <PresentationFormat>Widescreen</PresentationFormat>
  <Paragraphs>98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Bradley, Michael</cp:lastModifiedBy>
  <cp:revision>17</cp:revision>
  <dcterms:created xsi:type="dcterms:W3CDTF">2020-08-19T17:59:24Z</dcterms:created>
  <dcterms:modified xsi:type="dcterms:W3CDTF">2026-10-26T03:46:45Z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